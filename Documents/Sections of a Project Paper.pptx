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57" r:id="rId6"/>
    <p:sldId id="274" r:id="rId7"/>
    <p:sldId id="275" r:id="rId8"/>
    <p:sldId id="276" r:id="rId9"/>
    <p:sldId id="277" r:id="rId10"/>
    <p:sldId id="258" r:id="rId11"/>
    <p:sldId id="259" r:id="rId12"/>
    <p:sldId id="260" r:id="rId13"/>
    <p:sldId id="278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61" r:id="rId23"/>
    <p:sldId id="27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32525-7416-9B9F-A672-DA577C9DE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3EAA0-F7DA-45EB-E77E-53416CBBF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23D55-22C1-8FED-14EA-E53A13C1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56C7-9485-4B6F-A78E-45461D227E8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4ADE6-1249-34CB-D9A6-2AD84041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749AE-81F4-A6B6-8673-97DB7534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1430F-CFFA-4024-B1DC-54DDEFA31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39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6D27-A7FB-65A7-04E4-39AF448CC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A700B-3BA3-56C3-B83F-544510DBA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788A0-D07F-1F5C-7FBC-7A93DAF7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56C7-9485-4B6F-A78E-45461D227E8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629CB-196E-4FED-9416-11CF9DA1A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52C99-041E-7106-DCD3-B304A4B0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1430F-CFFA-4024-B1DC-54DDEFA31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65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C5C5-5661-3EBC-6A31-683926DDD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3DE9D-8D51-E452-5DED-D026C2B15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7A3A-DEC2-FDF7-84C9-393387C3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56C7-9485-4B6F-A78E-45461D227E8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F767F-EF6D-ED8A-4D6D-0222686A0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4A60A-5EAD-88B3-3380-43C9B833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1430F-CFFA-4024-B1DC-54DDEFA31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526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528A-07D8-5190-47FC-D2704A92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5F739-0E5E-D373-428F-A88E156E2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8F467-D06F-FC11-4B59-9A84C4249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FC1E7-18C4-7D1C-56B6-78C2C707E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56C7-9485-4B6F-A78E-45461D227E8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98FA2-ADF5-F1D2-FCDB-18CC0795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BB9D4-AEC9-A1F4-9124-1172BD7F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1430F-CFFA-4024-B1DC-54DDEFA31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72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843B7-5481-CD1F-7B05-92A09AD6F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BF7D7-0AAB-4C4B-3E58-D72E3900F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A3C26-E9E4-A04C-A06B-30446931D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FB1EBB-4E38-0E53-8FE1-2FFDF3C64B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66C7F-3C0E-F49B-6E40-80F765D24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54795C-69D2-47F3-04DA-D0758B7DE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56C7-9485-4B6F-A78E-45461D227E8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E8E08-C2EE-3E50-6387-DB67534B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4A14CC-E576-D4B1-8923-631F0C1E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1430F-CFFA-4024-B1DC-54DDEFA31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953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21855-0710-4992-149E-461BA7F5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87FDE-EA4D-2DF7-E0F7-0D07CA34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56C7-9485-4B6F-A78E-45461D227E8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7C914D-8CF4-3FB5-B8FD-961086094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AA97-2249-548B-D1CC-DBFCE42C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1430F-CFFA-4024-B1DC-54DDEFA31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41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8A3EE3-2C64-4B2C-AD00-CA4294461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56C7-9485-4B6F-A78E-45461D227E8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D20C9-83F5-CAD4-69B1-7AC13A4FC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34A1E-173D-209C-6FB1-7BA33A2D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1430F-CFFA-4024-B1DC-54DDEFA31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178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ADE25-0DE4-1D4C-1921-1CED646CA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B0EBA-0F6F-8FF7-EF34-99FE05BDD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4F484-92A8-8FD4-BA25-E6ADD8E08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6D4F2-4018-D444-3F0E-F675FCD8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56C7-9485-4B6F-A78E-45461D227E8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FABA1-4795-4938-842F-59C0B6400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2C495-CB46-F1EF-EEAE-CA7F4CB6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1430F-CFFA-4024-B1DC-54DDEFA31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3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0FAF-40C8-98B2-DB00-FB8E6BEAF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2E08CC-B8A1-1813-CF22-6DC6BBF17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0353A-F73B-F72A-D1F3-00B54A6E8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8AFB7-E257-4136-446C-83EAE75F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56C7-9485-4B6F-A78E-45461D227E8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02F5A-883D-36B1-C813-361F6A81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6F555-6B35-69A7-DF2A-576925B0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1430F-CFFA-4024-B1DC-54DDEFA31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70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D4D4-4367-2775-FBC4-967A338A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43AEB-0E46-E45C-165D-C5F748E9B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4DFFA-0AD8-D83E-4C75-0440D09D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56C7-9485-4B6F-A78E-45461D227E8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7035-A7F9-9141-16ED-9EEA50EEF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85CEF-9156-AD27-1D75-BE712C859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1430F-CFFA-4024-B1DC-54DDEFA31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346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710770-5189-E328-A89F-6C0023B23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281D0-99C8-8D7B-7E68-F65A37407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EADEE-139C-6A3A-80A5-C34CBE85E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C56C7-9485-4B6F-A78E-45461D227E8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63663-3C5A-4E48-4F12-5A783A57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298F7-FDA9-AACA-4D71-A139FAA71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1430F-CFFA-4024-B1DC-54DDEFA31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39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A746AD-21C4-CA50-2E26-B88EAE05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5C0F3-0787-62E5-8CC2-FD3B458DA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8CE3F-4B69-1566-D640-D48310D57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C56C7-9485-4B6F-A78E-45461D227E8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169FD-7968-EC95-5501-6D3A0A3529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4DEEE-3BB1-65FB-222A-092D0648E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91430F-CFFA-4024-B1DC-54DDEFA317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4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mendeley.com/datasets/hx6f852hw4/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E892-03B8-7073-C97F-111AD07A56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Book Antiqua" panose="02040602050305030304" pitchFamily="18" charset="0"/>
              </a:rPr>
              <a:t>Sections of a Project Paper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27680-F251-71CE-4811-FB9795D6F2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98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51B70-5CF1-A6DA-5799-5242FD382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3D67-2309-1D6E-5CFA-26E0EA7C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HOW TO IDENTIFY PAPER? HOW TO START?</a:t>
            </a:r>
            <a:br>
              <a:rPr lang="en-IN" b="1" dirty="0">
                <a:latin typeface="Book Antiqua" panose="0204060205030503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3A6D3-6B23-06BD-6721-7079E0616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6" y="1343845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Book Antiqua" panose="02040602050305030304" pitchFamily="18" charset="0"/>
              </a:rPr>
              <a:t>Choose a topic which interests and challenges you.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Book Antiqua" panose="02040602050305030304" pitchFamily="18" charset="0"/>
              </a:rPr>
              <a:t>Selecting a topic that genuinely interests you helps maintain motivation and encourages consistent effort throughout the research.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Book Antiqua" panose="02040602050305030304" pitchFamily="18" charset="0"/>
              </a:rPr>
              <a:t>Focus on a specific and manageable aspect of your topic.</a:t>
            </a:r>
          </a:p>
        </p:txBody>
      </p:sp>
    </p:spTree>
    <p:extLst>
      <p:ext uri="{BB962C8B-B14F-4D97-AF65-F5344CB8AC3E}">
        <p14:creationId xmlns:p14="http://schemas.microsoft.com/office/powerpoint/2010/main" val="1377940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C20B0-2B2F-2C34-4EA0-850AD1CD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3E16-BBAD-1121-9DFF-80862DEC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HOW TO IDENTIFY PAPER? HOW TO START?</a:t>
            </a:r>
            <a:br>
              <a:rPr lang="en-IN" b="1" dirty="0">
                <a:latin typeface="Book Antiqua" panose="0204060205030503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13374-750F-C6A7-FC7A-7211CD73F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6" y="1343845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Book Antiqua" panose="02040602050305030304" pitchFamily="18" charset="0"/>
              </a:rPr>
              <a:t>Refine your research topic by concentrating on a specific issue or location.</a:t>
            </a:r>
            <a:br>
              <a:rPr lang="en-IN" sz="2200" dirty="0">
                <a:latin typeface="Book Antiqua" panose="02040602050305030304" pitchFamily="18" charset="0"/>
              </a:rPr>
            </a:br>
            <a:r>
              <a:rPr lang="en-IN" sz="2200" b="1" i="1" dirty="0">
                <a:latin typeface="Book Antiqua" panose="02040602050305030304" pitchFamily="18" charset="0"/>
              </a:rPr>
              <a:t>Example:</a:t>
            </a:r>
            <a:r>
              <a:rPr lang="en-IN" sz="2200" b="1" dirty="0">
                <a:latin typeface="Book Antiqua" panose="02040602050305030304" pitchFamily="18" charset="0"/>
              </a:rPr>
              <a:t>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>
                <a:latin typeface="Book Antiqua" panose="02040602050305030304" pitchFamily="18" charset="0"/>
              </a:rPr>
              <a:t>Narrow the topic from </a:t>
            </a:r>
            <a:r>
              <a:rPr lang="en-IN" sz="1800" b="1" dirty="0">
                <a:latin typeface="Book Antiqua" panose="02040602050305030304" pitchFamily="18" charset="0"/>
              </a:rPr>
              <a:t>"Climate Change"</a:t>
            </a:r>
            <a:r>
              <a:rPr lang="en-IN" sz="1800" dirty="0">
                <a:latin typeface="Book Antiqua" panose="02040602050305030304" pitchFamily="18" charset="0"/>
              </a:rPr>
              <a:t> to </a:t>
            </a:r>
            <a:r>
              <a:rPr lang="en-IN" sz="1800" b="1" dirty="0">
                <a:latin typeface="Book Antiqua" panose="02040602050305030304" pitchFamily="18" charset="0"/>
              </a:rPr>
              <a:t>"Impact of Climate Change on Rice Production in Tamil Nadu.”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>
                <a:latin typeface="Book Antiqua" panose="02040602050305030304" pitchFamily="18" charset="0"/>
              </a:rPr>
              <a:t>Instead of </a:t>
            </a:r>
            <a:r>
              <a:rPr lang="en-IN" sz="1800" b="1" dirty="0">
                <a:latin typeface="Book Antiqua" panose="02040602050305030304" pitchFamily="18" charset="0"/>
              </a:rPr>
              <a:t>"Crop Diseases,"</a:t>
            </a:r>
            <a:r>
              <a:rPr lang="en-IN" sz="1800" dirty="0">
                <a:latin typeface="Book Antiqua" panose="02040602050305030304" pitchFamily="18" charset="0"/>
              </a:rPr>
              <a:t> choose </a:t>
            </a:r>
            <a:r>
              <a:rPr lang="en-IN" sz="1800" b="1" dirty="0">
                <a:latin typeface="Book Antiqua" panose="02040602050305030304" pitchFamily="18" charset="0"/>
              </a:rPr>
              <a:t>"Management of Late Blight Disease in Potato Cultivation."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831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AE461-9136-EF84-ECAB-C10FBD675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0FB3D-DF5A-FC08-6E6A-98C6A4ED3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HOW TO IDENTIFY PAPER? HOW TO START?</a:t>
            </a:r>
            <a:br>
              <a:rPr lang="en-IN" b="1" dirty="0">
                <a:latin typeface="Book Antiqua" panose="0204060205030503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C2015-5CE0-E6AE-6A1D-E10FDD9AE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6" y="1343845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Book Antiqua" panose="02040602050305030304" pitchFamily="18" charset="0"/>
              </a:rPr>
              <a:t>Must, obtain the approval of your supervisor for the topic before beginning full-scale research.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Book Antiqua" panose="02040602050305030304" pitchFamily="18" charset="0"/>
              </a:rPr>
              <a:t>The most important thing is to select a subject that you can manage. Avoid subjects that are highly technical, overly specialized, or beyond your expertise.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Book Antiqua" panose="02040602050305030304" pitchFamily="18" charset="0"/>
              </a:rPr>
              <a:t>Avoid topics that have limited access to data or insufficient research material. 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14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707B-B5D1-4570-A13C-7A07F155F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HOW TO IDENTIFY PAPER? HOW TO START?</a:t>
            </a:r>
            <a:br>
              <a:rPr lang="en-IN" b="1" dirty="0">
                <a:latin typeface="Book Antiqua" panose="0204060205030503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261DA-1055-A3CD-A0AA-6C2E76E74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Book Antiqua" panose="02040602050305030304" pitchFamily="18" charset="0"/>
              </a:rPr>
              <a:t>Do not choose controversial topics. </a:t>
            </a:r>
          </a:p>
          <a:p>
            <a:pPr marL="0" indent="0">
              <a:buNone/>
            </a:pPr>
            <a:r>
              <a:rPr lang="en-IN" sz="2200" b="1" dirty="0">
                <a:latin typeface="Book Antiqua" panose="02040602050305030304" pitchFamily="18" charset="0"/>
              </a:rPr>
              <a:t>Examples of controversial topics:</a:t>
            </a:r>
            <a:endParaRPr lang="en-IN" sz="2200" dirty="0">
              <a:latin typeface="Book Antiqua" panose="0204060205030503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Religious infringement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Political parties corruption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Other highly sensitive social or political issues</a:t>
            </a:r>
          </a:p>
          <a:p>
            <a:endParaRPr lang="en-IN" sz="2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142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10BF4-42AE-3BF1-82B6-279240AE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FB20-F4A9-AD66-D820-C46BB98B4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HOW TO IDENTIFY PAPER? HOW TO START?</a:t>
            </a:r>
            <a:br>
              <a:rPr lang="en-IN" b="1" dirty="0">
                <a:latin typeface="Book Antiqua" panose="0204060205030503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38900-250C-31BA-9601-B9FC254FD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Book Antiqua" panose="02040602050305030304" pitchFamily="18" charset="0"/>
              </a:rPr>
              <a:t>Do not choose controversial topics. </a:t>
            </a:r>
          </a:p>
          <a:p>
            <a:pPr marL="0" indent="0">
              <a:buNone/>
            </a:pPr>
            <a:r>
              <a:rPr lang="en-IN" sz="2200" b="1" dirty="0">
                <a:latin typeface="Book Antiqua" panose="02040602050305030304" pitchFamily="18" charset="0"/>
              </a:rPr>
              <a:t>Examples of controversial topics:</a:t>
            </a:r>
            <a:endParaRPr lang="en-IN" sz="2200" dirty="0">
              <a:latin typeface="Book Antiqua" panose="0204060205030503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Religious infringement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Political parties corruption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Other highly sensitive social or political issues</a:t>
            </a:r>
          </a:p>
          <a:p>
            <a:endParaRPr lang="en-IN" sz="2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36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4AA4-D3EB-6EEB-15DB-74ABEDC7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FF67-3A81-919D-B506-A7728A60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Map with SDG Goals</a:t>
            </a:r>
            <a:br>
              <a:rPr lang="en-IN" b="1" dirty="0">
                <a:latin typeface="Book Antiqua" panose="02040602050305030304" pitchFamily="18" charset="0"/>
              </a:rPr>
            </a:b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8BC97F-DBB8-0C98-35A9-11BF5BD24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005634"/>
              </p:ext>
            </p:extLst>
          </p:nvPr>
        </p:nvGraphicFramePr>
        <p:xfrm>
          <a:off x="1893385" y="1239156"/>
          <a:ext cx="6287054" cy="5476968"/>
        </p:xfrm>
        <a:graphic>
          <a:graphicData uri="http://schemas.openxmlformats.org/drawingml/2006/table">
            <a:tbl>
              <a:tblPr/>
              <a:tblGrid>
                <a:gridCol w="1824389">
                  <a:extLst>
                    <a:ext uri="{9D8B030D-6E8A-4147-A177-3AD203B41FA5}">
                      <a16:colId xmlns:a16="http://schemas.microsoft.com/office/drawing/2014/main" val="675316021"/>
                    </a:ext>
                  </a:extLst>
                </a:gridCol>
                <a:gridCol w="4462665">
                  <a:extLst>
                    <a:ext uri="{9D8B030D-6E8A-4147-A177-3AD203B41FA5}">
                      <a16:colId xmlns:a16="http://schemas.microsoft.com/office/drawing/2014/main" val="1679583542"/>
                    </a:ext>
                  </a:extLst>
                </a:gridCol>
              </a:tblGrid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Book Antiqua" panose="02040602050305030304" pitchFamily="18" charset="0"/>
                        </a:rPr>
                        <a:t>SDG No.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Book Antiqua" panose="02040602050305030304" pitchFamily="18" charset="0"/>
                        </a:rPr>
                        <a:t>Goal</a:t>
                      </a:r>
                      <a:endParaRPr lang="en-IN" sz="1600" dirty="0">
                        <a:latin typeface="Book Antiqua" panose="02040602050305030304" pitchFamily="18" charset="0"/>
                      </a:endParaRP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595046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SDG 1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No Poverty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489749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SDG 2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Zero Hunger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068207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SDG 3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Good Health and Well-being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52646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SDG 4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Quality Education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367593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Book Antiqua" panose="02040602050305030304" pitchFamily="18" charset="0"/>
                        </a:rPr>
                        <a:t>SDG 5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Book Antiqua" panose="02040602050305030304" pitchFamily="18" charset="0"/>
                        </a:rPr>
                        <a:t>Gender Equality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877739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SDG 6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Clean Water and Sanitation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755220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SDG 7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Affordable and Clean Energy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191716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SDG 8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latin typeface="Book Antiqua" panose="02040602050305030304" pitchFamily="18" charset="0"/>
                        </a:rPr>
                        <a:t>Decent Work and Economic Growth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960506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SDG 9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Industry, Innovation and Infrastructure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88333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SDG 10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Reduced Inequalities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495238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Book Antiqua" panose="02040602050305030304" pitchFamily="18" charset="0"/>
                        </a:rPr>
                        <a:t>SDG 11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Sustainable Cities and Communities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646541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Book Antiqua" panose="02040602050305030304" pitchFamily="18" charset="0"/>
                        </a:rPr>
                        <a:t>SDG 12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Responsible Consumption and Production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786654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Book Antiqua" panose="02040602050305030304" pitchFamily="18" charset="0"/>
                        </a:rPr>
                        <a:t>SDG 13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Climate Action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876170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Book Antiqua" panose="02040602050305030304" pitchFamily="18" charset="0"/>
                        </a:rPr>
                        <a:t>SDG 14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Life Below Water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658236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Book Antiqua" panose="02040602050305030304" pitchFamily="18" charset="0"/>
                        </a:rPr>
                        <a:t>SDG 15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Life on Land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620721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Book Antiqua" panose="02040602050305030304" pitchFamily="18" charset="0"/>
                        </a:rPr>
                        <a:t>SDG 16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Peace, Justice and Strong Institutions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761035"/>
                  </a:ext>
                </a:extLst>
              </a:tr>
              <a:tr h="2433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Book Antiqua" panose="02040602050305030304" pitchFamily="18" charset="0"/>
                        </a:rPr>
                        <a:t>SDG 17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Book Antiqua" panose="02040602050305030304" pitchFamily="18" charset="0"/>
                        </a:rPr>
                        <a:t>Partnerships for the Goals</a:t>
                      </a:r>
                    </a:p>
                  </a:txBody>
                  <a:tcPr marL="60435" marR="60435" marT="30218" marB="302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26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434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B46ED-6642-729E-4C59-FC9AB5EA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2766-3FAB-2DB1-C90F-A3BC890E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Map with SDG Goals</a:t>
            </a:r>
            <a:br>
              <a:rPr lang="en-IN" b="1" dirty="0">
                <a:latin typeface="Book Antiqua" panose="0204060205030503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E853C-A1B8-1C18-2428-D0B50E687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4820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latin typeface="Book Antiqua" panose="02040602050305030304" pitchFamily="18" charset="0"/>
              </a:rPr>
              <a:t>Match with Your Project Objectives</a:t>
            </a:r>
          </a:p>
          <a:p>
            <a:pPr marL="0" indent="0">
              <a:buNone/>
            </a:pPr>
            <a:r>
              <a:rPr lang="en-IN" sz="2200" dirty="0">
                <a:latin typeface="Book Antiqua" panose="02040602050305030304" pitchFamily="18" charset="0"/>
              </a:rPr>
              <a:t>Ask the following questions: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Which SDG problem does my research solve? 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Who benefits from the research? 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What environmental, social, or economic impact does it create?</a:t>
            </a:r>
          </a:p>
          <a:p>
            <a:pPr marL="0" indent="0">
              <a:buNone/>
            </a:pPr>
            <a:r>
              <a:rPr lang="en-IN" sz="2200" b="1" dirty="0">
                <a:latin typeface="Book Antiqua" panose="02040602050305030304" pitchFamily="18" charset="0"/>
              </a:rPr>
              <a:t>Select the Most Relevant SDG(s)</a:t>
            </a:r>
          </a:p>
          <a:p>
            <a:pPr marL="0" indent="0">
              <a:buNone/>
            </a:pPr>
            <a:r>
              <a:rPr lang="en-IN" sz="2200" dirty="0">
                <a:latin typeface="Book Antiqua" panose="02040602050305030304" pitchFamily="18" charset="0"/>
              </a:rPr>
              <a:t>Choose:</a:t>
            </a:r>
          </a:p>
          <a:p>
            <a:r>
              <a:rPr lang="en-IN" sz="2200" b="1" dirty="0">
                <a:latin typeface="Book Antiqua" panose="02040602050305030304" pitchFamily="18" charset="0"/>
              </a:rPr>
              <a:t>One Primary SDG</a:t>
            </a:r>
            <a:r>
              <a:rPr lang="en-IN" sz="2200" dirty="0">
                <a:latin typeface="Book Antiqua" panose="02040602050305030304" pitchFamily="18" charset="0"/>
              </a:rPr>
              <a:t> (main contribution) </a:t>
            </a:r>
          </a:p>
          <a:p>
            <a:r>
              <a:rPr lang="en-IN" sz="2200" b="1" dirty="0">
                <a:latin typeface="Book Antiqua" panose="02040602050305030304" pitchFamily="18" charset="0"/>
              </a:rPr>
              <a:t>One or two Secondary SDGs</a:t>
            </a:r>
            <a:r>
              <a:rPr lang="en-IN" sz="2200" dirty="0">
                <a:latin typeface="Book Antiqua" panose="02040602050305030304" pitchFamily="18" charset="0"/>
              </a:rPr>
              <a:t> (additional contributions)</a:t>
            </a:r>
          </a:p>
          <a:p>
            <a:pPr marL="0" indent="0">
              <a:buNone/>
            </a:pPr>
            <a:endParaRPr lang="en-IN" sz="2200" dirty="0">
              <a:latin typeface="Book Antiqua" panose="02040602050305030304" pitchFamily="18" charset="0"/>
            </a:endParaRPr>
          </a:p>
          <a:p>
            <a:endParaRPr lang="en-IN" sz="2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172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07784-2CFF-D06B-B0C3-BB97321F8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15688-73BD-6181-69F7-0A4D3DF4E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Map with SDG Goals</a:t>
            </a:r>
            <a:br>
              <a:rPr lang="en-IN" b="1" dirty="0">
                <a:latin typeface="Book Antiqua" panose="0204060205030503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2C56C-E7B2-8AA9-9AD5-85F88F02B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9589"/>
            <a:ext cx="10515600" cy="31856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latin typeface="Book Antiqua" panose="02040602050305030304" pitchFamily="18" charset="0"/>
              </a:rPr>
              <a:t>Example 1</a:t>
            </a:r>
          </a:p>
          <a:p>
            <a:pPr marL="0" indent="0">
              <a:buNone/>
            </a:pPr>
            <a:r>
              <a:rPr lang="en-IN" sz="2200" dirty="0">
                <a:latin typeface="Book Antiqua" panose="02040602050305030304" pitchFamily="18" charset="0"/>
              </a:rPr>
              <a:t>Project Title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AI-Based Crop Disease Detection System</a:t>
            </a:r>
          </a:p>
          <a:p>
            <a:pPr marL="0" indent="0">
              <a:buNone/>
            </a:pPr>
            <a:endParaRPr lang="en-IN" sz="2200" dirty="0">
              <a:latin typeface="Book Antiqua" panose="0204060205030503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4881B7-8DE6-F3AF-2445-305BDC120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615245"/>
              </p:ext>
            </p:extLst>
          </p:nvPr>
        </p:nvGraphicFramePr>
        <p:xfrm>
          <a:off x="838200" y="2338286"/>
          <a:ext cx="10515600" cy="17373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9254253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40068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 Antiqua" panose="02040602050305030304" pitchFamily="18" charset="0"/>
                        </a:rPr>
                        <a:t>Research Contribution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Book Antiqua" panose="02040602050305030304" pitchFamily="18" charset="0"/>
                        </a:rPr>
                        <a:t>SDG 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492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Improves crop yield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 Antiqua" panose="02040602050305030304" pitchFamily="18" charset="0"/>
                        </a:rPr>
                        <a:t>SDG 2 – Zero Hunger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180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Smart farming 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Book Antiqua" panose="02040602050305030304" pitchFamily="18" charset="0"/>
                        </a:rPr>
                        <a:t>SDG 9 – Industry, Innovation and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305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Sustainable agriculture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Book Antiqua" panose="02040602050305030304" pitchFamily="18" charset="0"/>
                        </a:rPr>
                        <a:t>SDG 12 – Responsible Consumption and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755637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B26ED4-9AFA-B63F-9AD0-B4C28CC2CBBE}"/>
              </a:ext>
            </a:extLst>
          </p:cNvPr>
          <p:cNvSpPr txBox="1">
            <a:spLocks/>
          </p:cNvSpPr>
          <p:nvPr/>
        </p:nvSpPr>
        <p:spPr>
          <a:xfrm>
            <a:off x="838200" y="4175585"/>
            <a:ext cx="10515600" cy="3185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200" b="1" dirty="0">
                <a:latin typeface="Book Antiqua" panose="02040602050305030304" pitchFamily="18" charset="0"/>
              </a:rPr>
              <a:t>Sentence we include in the project Paper</a:t>
            </a:r>
          </a:p>
          <a:p>
            <a:r>
              <a:rPr lang="en-IN" sz="2200" b="1" dirty="0">
                <a:latin typeface="Book Antiqua" panose="02040602050305030304" pitchFamily="18" charset="0"/>
              </a:rPr>
              <a:t>SDG Mapping:</a:t>
            </a:r>
            <a:br>
              <a:rPr lang="en-IN" sz="2200" dirty="0">
                <a:latin typeface="Book Antiqua" panose="02040602050305030304" pitchFamily="18" charset="0"/>
              </a:rPr>
            </a:br>
            <a:r>
              <a:rPr lang="en-IN" sz="2200" dirty="0">
                <a:latin typeface="Book Antiqua" panose="02040602050305030304" pitchFamily="18" charset="0"/>
              </a:rPr>
              <a:t>This research aligns primarily with </a:t>
            </a:r>
            <a:r>
              <a:rPr lang="en-IN" sz="2200" b="1" dirty="0">
                <a:latin typeface="Book Antiqua" panose="02040602050305030304" pitchFamily="18" charset="0"/>
              </a:rPr>
              <a:t>SDG 9 (Industry, Innovation and Infrastructure)</a:t>
            </a:r>
            <a:r>
              <a:rPr lang="en-IN" sz="2200" dirty="0">
                <a:latin typeface="Book Antiqua" panose="02040602050305030304" pitchFamily="18" charset="0"/>
              </a:rPr>
              <a:t> by developing an innovative AI-based solution for crop disease detection. It also contributes to </a:t>
            </a:r>
            <a:r>
              <a:rPr lang="en-IN" sz="2200" b="1" dirty="0">
                <a:latin typeface="Book Antiqua" panose="02040602050305030304" pitchFamily="18" charset="0"/>
              </a:rPr>
              <a:t>SDG 2 (Zero Hunger)</a:t>
            </a:r>
            <a:r>
              <a:rPr lang="en-IN" sz="2200" dirty="0">
                <a:latin typeface="Book Antiqua" panose="02040602050305030304" pitchFamily="18" charset="0"/>
              </a:rPr>
              <a:t> by supporting sustainable agricultural practices and improving crop productivity.</a:t>
            </a:r>
          </a:p>
        </p:txBody>
      </p:sp>
    </p:spTree>
    <p:extLst>
      <p:ext uri="{BB962C8B-B14F-4D97-AF65-F5344CB8AC3E}">
        <p14:creationId xmlns:p14="http://schemas.microsoft.com/office/powerpoint/2010/main" val="2990084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B89D-868D-2A8A-79DF-04DD8923E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Book Antiqua" panose="02040602050305030304" pitchFamily="18" charset="0"/>
              </a:rPr>
              <a:t>Major Sections must in your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30939-27BA-96F3-E112-03D20A3C3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832"/>
            <a:ext cx="10515600" cy="464313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200" dirty="0">
                <a:latin typeface="Book Antiqua" panose="02040602050305030304" pitchFamily="18" charset="0"/>
              </a:rPr>
              <a:t>Abstract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200" dirty="0">
                <a:latin typeface="Book Antiqua" panose="02040602050305030304" pitchFamily="18" charset="0"/>
              </a:rPr>
              <a:t>Introduction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200" dirty="0">
                <a:latin typeface="Book Antiqua" panose="02040602050305030304" pitchFamily="18" charset="0"/>
              </a:rPr>
              <a:t>Literature Review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200" dirty="0">
                <a:latin typeface="Book Antiqua" panose="02040602050305030304" pitchFamily="18" charset="0"/>
              </a:rPr>
              <a:t>Research Gaps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200" dirty="0">
                <a:latin typeface="Book Antiqua" panose="02040602050305030304" pitchFamily="18" charset="0"/>
              </a:rPr>
              <a:t>Research Methodology /Proposed work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200" dirty="0">
                <a:latin typeface="Book Antiqua" panose="02040602050305030304" pitchFamily="18" charset="0"/>
              </a:rPr>
              <a:t>Research Analysis / Discussion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200" dirty="0">
                <a:latin typeface="Book Antiqua" panose="02040602050305030304" pitchFamily="18" charset="0"/>
              </a:rPr>
              <a:t>Results or Findings /Experimental Results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200" dirty="0">
                <a:latin typeface="Book Antiqua" panose="02040602050305030304" pitchFamily="18" charset="0"/>
              </a:rPr>
              <a:t>Performance Evaluation/Comparative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200" dirty="0">
                <a:latin typeface="Book Antiqua" panose="02040602050305030304" pitchFamily="18" charset="0"/>
              </a:rPr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200" dirty="0">
                <a:latin typeface="Book Antiqua" panose="02040602050305030304" pitchFamily="18" charset="0"/>
              </a:rPr>
              <a:t> References / Citations</a:t>
            </a:r>
          </a:p>
        </p:txBody>
      </p:sp>
    </p:spTree>
    <p:extLst>
      <p:ext uri="{BB962C8B-B14F-4D97-AF65-F5344CB8AC3E}">
        <p14:creationId xmlns:p14="http://schemas.microsoft.com/office/powerpoint/2010/main" val="802249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4155-36C5-1B19-B3EE-BB086F4D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Book Antiqua" panose="02040602050305030304" pitchFamily="18" charset="0"/>
              </a:rPr>
              <a:t>Contents of should be in 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B0272-8F67-AC66-BD53-B716359AE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b="1" dirty="0">
                <a:latin typeface="Book Antiqua" panose="02040602050305030304" pitchFamily="18" charset="0"/>
              </a:rPr>
              <a:t>Background / Introduction:</a:t>
            </a:r>
            <a:r>
              <a:rPr lang="en-IN" sz="2200" dirty="0">
                <a:latin typeface="Book Antiqua" panose="02040602050305030304" pitchFamily="18" charset="0"/>
              </a:rPr>
              <a:t> Briefly introduces the research problem or context. </a:t>
            </a:r>
          </a:p>
          <a:p>
            <a:r>
              <a:rPr lang="en-IN" sz="2200" b="1" dirty="0">
                <a:latin typeface="Book Antiqua" panose="02040602050305030304" pitchFamily="18" charset="0"/>
              </a:rPr>
              <a:t>Research Objectives:</a:t>
            </a:r>
            <a:r>
              <a:rPr lang="en-IN" sz="2200" dirty="0">
                <a:latin typeface="Book Antiqua" panose="02040602050305030304" pitchFamily="18" charset="0"/>
              </a:rPr>
              <a:t> States the purpose or aim of the study. </a:t>
            </a:r>
          </a:p>
          <a:p>
            <a:r>
              <a:rPr lang="en-IN" sz="2200" b="1" dirty="0">
                <a:latin typeface="Book Antiqua" panose="02040602050305030304" pitchFamily="18" charset="0"/>
              </a:rPr>
              <a:t>Methodology:</a:t>
            </a:r>
            <a:r>
              <a:rPr lang="en-IN" sz="2200" dirty="0">
                <a:latin typeface="Book Antiqua" panose="02040602050305030304" pitchFamily="18" charset="0"/>
              </a:rPr>
              <a:t> Describes the research design, data collection methods, sample, and analysis techniques. </a:t>
            </a:r>
          </a:p>
          <a:p>
            <a:r>
              <a:rPr lang="en-IN" sz="2200" b="1" dirty="0">
                <a:latin typeface="Book Antiqua" panose="02040602050305030304" pitchFamily="18" charset="0"/>
              </a:rPr>
              <a:t>Results / Findings:</a:t>
            </a:r>
            <a:r>
              <a:rPr lang="en-IN" sz="2200" dirty="0">
                <a:latin typeface="Book Antiqua" panose="02040602050305030304" pitchFamily="18" charset="0"/>
              </a:rPr>
              <a:t> Highlights the key outcomes or significant findings of the research. </a:t>
            </a:r>
          </a:p>
          <a:p>
            <a:r>
              <a:rPr lang="en-IN" sz="2200" b="1" dirty="0">
                <a:latin typeface="Book Antiqua" panose="02040602050305030304" pitchFamily="18" charset="0"/>
              </a:rPr>
              <a:t>Conclusion:</a:t>
            </a:r>
            <a:r>
              <a:rPr lang="en-IN" sz="2200" dirty="0">
                <a:latin typeface="Book Antiqua" panose="02040602050305030304" pitchFamily="18" charset="0"/>
              </a:rPr>
              <a:t> Summarizes the main conclusion and its implications. </a:t>
            </a:r>
          </a:p>
          <a:p>
            <a:r>
              <a:rPr lang="en-IN" sz="2200" b="1" dirty="0">
                <a:latin typeface="Book Antiqua" panose="02040602050305030304" pitchFamily="18" charset="0"/>
              </a:rPr>
              <a:t>Keywords:</a:t>
            </a:r>
            <a:r>
              <a:rPr lang="en-IN" sz="2200" dirty="0">
                <a:latin typeface="Book Antiqua" panose="02040602050305030304" pitchFamily="18" charset="0"/>
              </a:rPr>
              <a:t> Lists </a:t>
            </a:r>
            <a:r>
              <a:rPr lang="en-IN" sz="2200" b="1" dirty="0">
                <a:latin typeface="Book Antiqua" panose="02040602050305030304" pitchFamily="18" charset="0"/>
              </a:rPr>
              <a:t>4–6 important keywords</a:t>
            </a:r>
            <a:r>
              <a:rPr lang="en-IN" sz="2200" dirty="0">
                <a:latin typeface="Book Antiqua" panose="02040602050305030304" pitchFamily="18" charset="0"/>
              </a:rPr>
              <a:t> that represent the main topics of the research.</a:t>
            </a:r>
          </a:p>
        </p:txBody>
      </p:sp>
    </p:spTree>
    <p:extLst>
      <p:ext uri="{BB962C8B-B14F-4D97-AF65-F5344CB8AC3E}">
        <p14:creationId xmlns:p14="http://schemas.microsoft.com/office/powerpoint/2010/main" val="1993943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B3A7C-7DB9-4A02-B884-3D7998E82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7A02A-9561-E4BA-F530-5C4A7D5C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5" y="168479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Book Antiqua" panose="02040602050305030304" pitchFamily="18" charset="0"/>
              </a:rPr>
              <a:t>Contents of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54021-CAEE-1019-4CF1-CF68B98B3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6695"/>
            <a:ext cx="10515600" cy="4351338"/>
          </a:xfrm>
        </p:spPr>
        <p:txBody>
          <a:bodyPr>
            <a:noAutofit/>
          </a:bodyPr>
          <a:lstStyle/>
          <a:p>
            <a:r>
              <a:rPr lang="en-IN" sz="2200" dirty="0">
                <a:latin typeface="Book Antiqua" panose="02040602050305030304" pitchFamily="18" charset="0"/>
              </a:rPr>
              <a:t> </a:t>
            </a:r>
            <a:r>
              <a:rPr lang="en-IN" sz="2200" b="1" dirty="0">
                <a:latin typeface="Book Antiqua" panose="02040602050305030304" pitchFamily="18" charset="0"/>
              </a:rPr>
              <a:t>Background of the study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Introduce the research topic.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Provide relevant context and general information.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 </a:t>
            </a:r>
            <a:r>
              <a:rPr lang="en-IN" sz="2200" b="1" dirty="0">
                <a:latin typeface="Book Antiqua" panose="02040602050305030304" pitchFamily="18" charset="0"/>
              </a:rPr>
              <a:t>Research problem statement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Clearly define the research problem or issue being addressed.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Explain why the problem is important.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 </a:t>
            </a:r>
            <a:r>
              <a:rPr lang="en-IN" sz="2200" b="1" dirty="0">
                <a:latin typeface="Book Antiqua" panose="02040602050305030304" pitchFamily="18" charset="0"/>
              </a:rPr>
              <a:t>Need and significance of the study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Describe the importance and potential contributions of the research.</a:t>
            </a:r>
          </a:p>
          <a:p>
            <a:r>
              <a:rPr lang="en-IN" sz="2200" b="1" dirty="0">
                <a:latin typeface="Book Antiqua" panose="02040602050305030304" pitchFamily="18" charset="0"/>
              </a:rPr>
              <a:t>Research objectives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State the specific aims or goals of the study.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 </a:t>
            </a:r>
            <a:r>
              <a:rPr lang="en-IN" sz="2200" b="1" dirty="0">
                <a:latin typeface="Book Antiqua" panose="02040602050305030304" pitchFamily="18" charset="0"/>
              </a:rPr>
              <a:t>Research questions/hypotheses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Present the key research questions or hypotheses to be investigated.</a:t>
            </a:r>
            <a:br>
              <a:rPr lang="en-IN" sz="2200" dirty="0">
                <a:latin typeface="Book Antiqua" panose="02040602050305030304" pitchFamily="18" charset="0"/>
              </a:rPr>
            </a:br>
            <a:endParaRPr lang="en-IN" sz="22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n-IN" sz="2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300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3F6AC-F9B4-B8CB-4335-B4149DFDC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E3D6-5305-9B19-BCD8-A82448327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5" y="168479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Book Antiqua" panose="02040602050305030304" pitchFamily="18" charset="0"/>
              </a:rPr>
              <a:t>Contents of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E3374-DEA5-AAAB-9DC6-0E42738EC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669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>
                <a:latin typeface="Book Antiqua" panose="02040602050305030304" pitchFamily="18" charset="0"/>
              </a:rPr>
              <a:t>• </a:t>
            </a:r>
            <a:r>
              <a:rPr lang="en-IN" sz="2200" b="1" dirty="0">
                <a:latin typeface="Book Antiqua" panose="02040602050305030304" pitchFamily="18" charset="0"/>
              </a:rPr>
              <a:t>Scope and limitations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Define the boundaries, limitations, and coverage of the research.</a:t>
            </a:r>
            <a:br>
              <a:rPr lang="en-IN" sz="2200" dirty="0">
                <a:latin typeface="Book Antiqua" panose="02040602050305030304" pitchFamily="18" charset="0"/>
              </a:rPr>
            </a:br>
            <a:endParaRPr lang="en-IN" sz="22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Book Antiqua" panose="02040602050305030304" pitchFamily="18" charset="0"/>
              </a:rPr>
              <a:t>• </a:t>
            </a:r>
            <a:r>
              <a:rPr lang="en-IN" sz="2200" b="1" dirty="0">
                <a:latin typeface="Book Antiqua" panose="02040602050305030304" pitchFamily="18" charset="0"/>
              </a:rPr>
              <a:t>Organization of the paper (optional)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sz="2200" dirty="0">
                <a:latin typeface="Book Antiqua" panose="02040602050305030304" pitchFamily="18" charset="0"/>
              </a:rPr>
              <a:t>Briefly describe the structure of the remaining sections of the paper</a:t>
            </a:r>
          </a:p>
          <a:p>
            <a:pPr marL="0" indent="0">
              <a:buNone/>
            </a:pPr>
            <a:endParaRPr lang="en-IN" sz="2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665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69162-A3EE-8717-CDDD-F8FF9A83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0B7E-568B-6AE3-CC22-191B4DBC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Book Antiqua" panose="02040602050305030304" pitchFamily="18" charset="0"/>
              </a:rPr>
              <a:t>Contents should be in 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7C2D0-4575-69A1-8123-B62BA293C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Book Antiqua" panose="02040602050305030304" pitchFamily="18" charset="0"/>
              </a:rPr>
              <a:t>Overview of previous research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Summary of existing methods/models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Critical analysis of previous studies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Strengths and limitations of existing work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Comparison of related studies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Identification of research gaps</a:t>
            </a:r>
          </a:p>
        </p:txBody>
      </p:sp>
    </p:spTree>
    <p:extLst>
      <p:ext uri="{BB962C8B-B14F-4D97-AF65-F5344CB8AC3E}">
        <p14:creationId xmlns:p14="http://schemas.microsoft.com/office/powerpoint/2010/main" val="216795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02CE-A598-1153-9276-557060815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C4D3D-6951-5487-8801-E4BB1066A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Book Antiqua" panose="02040602050305030304" pitchFamily="18" charset="0"/>
              </a:rPr>
              <a:t>Contents of 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E856E-A132-5FD9-245C-6B40E7E52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Book Antiqua" panose="02040602050305030304" pitchFamily="18" charset="0"/>
              </a:rPr>
              <a:t>Limitations of previous studies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Unsolved problems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Challenges in existing approaches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Motivation for the proposed work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Justification of the current research</a:t>
            </a:r>
          </a:p>
        </p:txBody>
      </p:sp>
    </p:spTree>
    <p:extLst>
      <p:ext uri="{BB962C8B-B14F-4D97-AF65-F5344CB8AC3E}">
        <p14:creationId xmlns:p14="http://schemas.microsoft.com/office/powerpoint/2010/main" val="2815911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00B8C-D4B0-2400-DF6E-D9E2F0833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E9BDE-253E-4EDE-1743-FF0659D9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Book Antiqua" panose="02040602050305030304" pitchFamily="18" charset="0"/>
              </a:rPr>
              <a:t>Contents of Research Methodology / Proposed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16DE0-283A-78E0-3F3C-CC126F9DD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Book Antiqua" panose="02040602050305030304" pitchFamily="18" charset="0"/>
              </a:rPr>
              <a:t>Research design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Proposed framework/model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Materials and datasets used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Data collection methods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Sample size and sampling technique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Tools, software, or equipment used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Algorithms/techniques employed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Experimental setup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Flowchart or architecture diagram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2540601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89D80-AB4F-E582-FD77-6CEA0CDBC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A4A9-CBC8-5F8F-9589-A8B5ABD5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Book Antiqua" panose="02040602050305030304" pitchFamily="18" charset="0"/>
              </a:rPr>
              <a:t>Contents of Research Analysis /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7E375-A71F-F8B4-28E7-15356223E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Book Antiqua" panose="02040602050305030304" pitchFamily="18" charset="0"/>
              </a:rPr>
              <a:t>Data analysis techniques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Interpretation of results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Discussion of observations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Comparison with existing studies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Advantages and limitations of the proposed method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Practical implications</a:t>
            </a:r>
          </a:p>
        </p:txBody>
      </p:sp>
    </p:spTree>
    <p:extLst>
      <p:ext uri="{BB962C8B-B14F-4D97-AF65-F5344CB8AC3E}">
        <p14:creationId xmlns:p14="http://schemas.microsoft.com/office/powerpoint/2010/main" val="2431536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8A413-DA86-479A-70E6-0B6B5C04F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F3172-7A14-483A-BC1E-23091587D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b="1" dirty="0">
                <a:latin typeface="Book Antiqua" panose="02040602050305030304" pitchFamily="18" charset="0"/>
              </a:rPr>
              <a:t>Contents of Results or Findings /Experimental Results</a:t>
            </a:r>
            <a:br>
              <a:rPr lang="en-IN" sz="4000" b="1" dirty="0">
                <a:latin typeface="Book Antiqua" panose="02040602050305030304" pitchFamily="18" charset="0"/>
              </a:rPr>
            </a:br>
            <a:endParaRPr lang="en-IN" sz="4000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5389A-EFA1-E304-1D1C-EF0A0C9BC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Book Antiqua" panose="02040602050305030304" pitchFamily="18" charset="0"/>
              </a:rPr>
              <a:t>Experimental outcomes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Tables and graphs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Figures and screenshots 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Accuracy, precision, recall, F1-score, etc. 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 Statistical analysis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Key findings and observations</a:t>
            </a:r>
          </a:p>
        </p:txBody>
      </p:sp>
    </p:spTree>
    <p:extLst>
      <p:ext uri="{BB962C8B-B14F-4D97-AF65-F5344CB8AC3E}">
        <p14:creationId xmlns:p14="http://schemas.microsoft.com/office/powerpoint/2010/main" val="1764006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9E244-2A11-3358-B539-EDBB62E4B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3740F-FA03-0689-BD38-AF066095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Contents of Performance Evaluation/Comparative Analysis</a:t>
            </a:r>
            <a:br>
              <a:rPr lang="en-IN" b="1" dirty="0">
                <a:latin typeface="Book Antiqua" panose="02040602050305030304" pitchFamily="18" charset="0"/>
              </a:rPr>
            </a:b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59883-005B-96D0-CACB-3E63007BA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Book Antiqua" panose="02040602050305030304" pitchFamily="18" charset="0"/>
              </a:rPr>
              <a:t>Performance metrics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Comparison with existing methods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Benchmark datasets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Comparative tables and charts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Computational complexity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Advantages and disadvantages of the proposed work</a:t>
            </a:r>
          </a:p>
        </p:txBody>
      </p:sp>
    </p:spTree>
    <p:extLst>
      <p:ext uri="{BB962C8B-B14F-4D97-AF65-F5344CB8AC3E}">
        <p14:creationId xmlns:p14="http://schemas.microsoft.com/office/powerpoint/2010/main" val="1815074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95C7A-5FC0-AE00-399D-7EC360583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5683-4723-B5BF-E681-AF154C7A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Contents of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BFE75-674A-5618-6ED0-4D5A3BC2F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7" y="1825625"/>
            <a:ext cx="10714703" cy="4351338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Book Antiqua" panose="02040602050305030304" pitchFamily="18" charset="0"/>
              </a:rPr>
              <a:t>Summary of the research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Major findings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Contributions of the study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Limitations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Practical applications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Future scope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775648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1F6D-4425-19D3-5A08-C5F0B5B3F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4108-8458-EFAD-B8A7-20B38555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Contents of </a:t>
            </a:r>
            <a:r>
              <a:rPr lang="en-IN" dirty="0">
                <a:latin typeface="Book Antiqua" panose="02040602050305030304" pitchFamily="18" charset="0"/>
              </a:rPr>
              <a:t>References / Citations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952EB-6CFF-3644-8A64-49CE0A7F2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7" y="1825625"/>
            <a:ext cx="10714703" cy="4351338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Book Antiqua" panose="02040602050305030304" pitchFamily="18" charset="0"/>
              </a:rPr>
              <a:t>Complete list of cited sources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All in-text citations must appear in the reference list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References formatted according to IEEE</a:t>
            </a:r>
          </a:p>
          <a:p>
            <a:pPr marL="0" indent="0">
              <a:buNone/>
            </a:pPr>
            <a:endParaRPr lang="en-IN" sz="22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Book Antiqua" panose="02040602050305030304" pitchFamily="18" charset="0"/>
              </a:rPr>
              <a:t>Format:</a:t>
            </a:r>
            <a:endParaRPr lang="en-IN" sz="22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Book Antiqua" panose="02040602050305030304" pitchFamily="18" charset="0"/>
              </a:rPr>
              <a:t>[1] Author(s), "Title of the article," </a:t>
            </a:r>
            <a:r>
              <a:rPr lang="en-IN" sz="2200" i="1" dirty="0">
                <a:latin typeface="Book Antiqua" panose="02040602050305030304" pitchFamily="18" charset="0"/>
              </a:rPr>
              <a:t>Journal Name</a:t>
            </a:r>
            <a:r>
              <a:rPr lang="en-IN" sz="2200" dirty="0">
                <a:latin typeface="Book Antiqua" panose="02040602050305030304" pitchFamily="18" charset="0"/>
              </a:rPr>
              <a:t>, vol. x, no. x, pp. xx–xx, Month Year.</a:t>
            </a:r>
          </a:p>
          <a:p>
            <a:pPr marL="0" indent="0">
              <a:buNone/>
            </a:pPr>
            <a:r>
              <a:rPr lang="en-IN" sz="2200" b="1" dirty="0">
                <a:latin typeface="Book Antiqua" panose="02040602050305030304" pitchFamily="18" charset="0"/>
              </a:rPr>
              <a:t>Example:</a:t>
            </a:r>
            <a:endParaRPr lang="en-IN" sz="22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Book Antiqua" panose="02040602050305030304" pitchFamily="18" charset="0"/>
              </a:rPr>
              <a:t>[1] J. Kalaivani and R. Kumar, "Deep learning techniques for crop disease detection,"   </a:t>
            </a:r>
          </a:p>
          <a:p>
            <a:pPr marL="0" indent="0">
              <a:buNone/>
            </a:pPr>
            <a:r>
              <a:rPr lang="en-IN" sz="2200" i="1" dirty="0">
                <a:latin typeface="Book Antiqua" panose="02040602050305030304" pitchFamily="18" charset="0"/>
              </a:rPr>
              <a:t>     IEEE Access</a:t>
            </a:r>
            <a:r>
              <a:rPr lang="en-IN" sz="2200" dirty="0">
                <a:latin typeface="Book Antiqua" panose="02040602050305030304" pitchFamily="18" charset="0"/>
              </a:rPr>
              <a:t>, vol. 11, no. 3, pp. 12345–12356, Mar. 2023.</a:t>
            </a:r>
          </a:p>
          <a:p>
            <a:endParaRPr lang="en-IN" sz="2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702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78804-5BBE-F620-E709-E325DB2B4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206-60F7-F858-2864-B2D964D2D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latin typeface="Book Antiqua" panose="02040602050305030304" pitchFamily="18" charset="0"/>
              </a:rPr>
              <a:t>Example of In-Text Citations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Deep learning has significantly improved crop disease detection </a:t>
            </a:r>
            <a:r>
              <a:rPr lang="en-IN" sz="2200" b="1" dirty="0">
                <a:latin typeface="Book Antiqua" panose="02040602050305030304" pitchFamily="18" charset="0"/>
              </a:rPr>
              <a:t>[1]</a:t>
            </a:r>
            <a:r>
              <a:rPr lang="en-IN" sz="2200" dirty="0">
                <a:latin typeface="Book Antiqua" panose="02040602050305030304" pitchFamily="18" charset="0"/>
              </a:rPr>
              <a:t>. 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Precision agriculture has benefited from AI-based techniques </a:t>
            </a:r>
            <a:r>
              <a:rPr lang="en-IN" sz="2200" b="1" dirty="0">
                <a:latin typeface="Book Antiqua" panose="02040602050305030304" pitchFamily="18" charset="0"/>
              </a:rPr>
              <a:t>[2], [3]</a:t>
            </a:r>
            <a:r>
              <a:rPr lang="en-IN" sz="2200" dirty="0">
                <a:latin typeface="Book Antiqua" panose="02040602050305030304" pitchFamily="18" charset="0"/>
              </a:rPr>
              <a:t>. </a:t>
            </a:r>
          </a:p>
          <a:p>
            <a:r>
              <a:rPr lang="en-IN" sz="2200" dirty="0">
                <a:latin typeface="Book Antiqua" panose="02040602050305030304" pitchFamily="18" charset="0"/>
              </a:rPr>
              <a:t>Recent studies have shown that CNN models achieve high classification accuracy </a:t>
            </a:r>
            <a:r>
              <a:rPr lang="en-IN" sz="2200" b="1" dirty="0">
                <a:latin typeface="Book Antiqua" panose="02040602050305030304" pitchFamily="18" charset="0"/>
              </a:rPr>
              <a:t>[1], [2]</a:t>
            </a:r>
            <a:r>
              <a:rPr lang="en-IN" sz="2200" dirty="0">
                <a:latin typeface="Book Antiqua" panose="02040602050305030304" pitchFamily="18" charset="0"/>
              </a:rPr>
              <a:t>. </a:t>
            </a:r>
          </a:p>
          <a:p>
            <a:pPr marL="0" indent="0">
              <a:buNone/>
            </a:pPr>
            <a:r>
              <a:rPr lang="en-IN" sz="2200" b="1" dirty="0">
                <a:latin typeface="Book Antiqua" panose="02040602050305030304" pitchFamily="18" charset="0"/>
              </a:rPr>
              <a:t>Note:</a:t>
            </a:r>
            <a:r>
              <a:rPr lang="en-IN" sz="2200" dirty="0">
                <a:latin typeface="Book Antiqua" panose="02040602050305030304" pitchFamily="18" charset="0"/>
              </a:rPr>
              <a:t> In IEEE style, references are </a:t>
            </a:r>
            <a:r>
              <a:rPr lang="en-IN" sz="2200" b="1" dirty="0">
                <a:latin typeface="Book Antiqua" panose="02040602050305030304" pitchFamily="18" charset="0"/>
              </a:rPr>
              <a:t>numbered in the order they are first cited</a:t>
            </a:r>
            <a:r>
              <a:rPr lang="en-IN" sz="2200" dirty="0">
                <a:latin typeface="Book Antiqua" panose="02040602050305030304" pitchFamily="18" charset="0"/>
              </a:rPr>
              <a:t> in the paper, and the same number is reused whenever that source is cited again.</a:t>
            </a:r>
          </a:p>
          <a:p>
            <a:pPr marL="0" indent="0">
              <a:buNone/>
            </a:pPr>
            <a:endParaRPr lang="en-IN" sz="22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899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8DE42-EE01-0FE9-3ED3-7F9857064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b="1" dirty="0">
                <a:latin typeface="Book Antiqua" panose="02040602050305030304" pitchFamily="18" charset="0"/>
              </a:rPr>
              <a:t>Data Availability Statement</a:t>
            </a:r>
          </a:p>
          <a:p>
            <a:pPr marL="0" indent="0">
              <a:buNone/>
            </a:pPr>
            <a:r>
              <a:rPr lang="en-IN" sz="2200" dirty="0">
                <a:latin typeface="Book Antiqua" panose="02040602050305030304" pitchFamily="18" charset="0"/>
              </a:rPr>
              <a:t>The data underlying this article are available in the Rice Leaf Bacterial and Fungal Disease Dataset </a:t>
            </a:r>
          </a:p>
          <a:p>
            <a:pPr marL="0" indent="0">
              <a:buNone/>
            </a:pPr>
            <a:r>
              <a:rPr lang="en-IN" sz="2200" dirty="0">
                <a:latin typeface="Book Antiqua" panose="02040602050305030304" pitchFamily="18" charset="0"/>
                <a:hlinkClick r:id="rId2"/>
              </a:rPr>
              <a:t>https://data.mendeley.com/datasets/hx6f852hw4/2</a:t>
            </a:r>
            <a:r>
              <a:rPr lang="en-IN" sz="2200" dirty="0">
                <a:latin typeface="Book Antiqua" panose="0204060205030503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5849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1195</Words>
  <Application>Microsoft Office PowerPoint</Application>
  <PresentationFormat>Widescreen</PresentationFormat>
  <Paragraphs>192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Book Antiqua</vt:lpstr>
      <vt:lpstr>Wingdings</vt:lpstr>
      <vt:lpstr>Office Theme</vt:lpstr>
      <vt:lpstr>Sections of a Project Paper</vt:lpstr>
      <vt:lpstr>HOW TO IDENTIFY PAPER? HOW TO START? </vt:lpstr>
      <vt:lpstr>HOW TO IDENTIFY PAPER? HOW TO START? </vt:lpstr>
      <vt:lpstr>HOW TO IDENTIFY PAPER? HOW TO START? </vt:lpstr>
      <vt:lpstr>HOW TO IDENTIFY PAPER? HOW TO START? </vt:lpstr>
      <vt:lpstr>HOW TO IDENTIFY PAPER? HOW TO START? </vt:lpstr>
      <vt:lpstr>Map with SDG Goals </vt:lpstr>
      <vt:lpstr>Map with SDG Goals </vt:lpstr>
      <vt:lpstr>Map with SDG Goals </vt:lpstr>
      <vt:lpstr>Major Sections must in your paper</vt:lpstr>
      <vt:lpstr>Contents of should be in Abstract</vt:lpstr>
      <vt:lpstr>Contents of Introduction</vt:lpstr>
      <vt:lpstr>Contents of Introduction</vt:lpstr>
      <vt:lpstr>Contents should be in Literature Review</vt:lpstr>
      <vt:lpstr>Contents of Research Gap</vt:lpstr>
      <vt:lpstr>Contents of Research Methodology / Proposed Work</vt:lpstr>
      <vt:lpstr>Contents of Research Analysis / Discussion</vt:lpstr>
      <vt:lpstr>Contents of Results or Findings /Experimental Results </vt:lpstr>
      <vt:lpstr>Contents of Performance Evaluation/Comparative Analysis </vt:lpstr>
      <vt:lpstr>Contents of Conclusion</vt:lpstr>
      <vt:lpstr>Contents of References / Citations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Karthick M</dc:creator>
  <cp:lastModifiedBy>Karthick M</cp:lastModifiedBy>
  <cp:revision>1</cp:revision>
  <dcterms:created xsi:type="dcterms:W3CDTF">2026-07-09T01:34:29Z</dcterms:created>
  <dcterms:modified xsi:type="dcterms:W3CDTF">2026-07-09T02:51:46Z</dcterms:modified>
</cp:coreProperties>
</file>